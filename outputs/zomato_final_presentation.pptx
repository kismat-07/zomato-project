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848359c784d4b" /><Relationship Type="http://schemas.openxmlformats.org/officeDocument/2006/relationships/extended-properties" Target="/docProps/app.xml" Id="Rfec3b13711414c5e" /><Relationship Type="http://schemas.openxmlformats.org/officeDocument/2006/relationships/officeDocument" Target="/ppt/presentation.xml" Id="R5c2cdedc4dc64d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5f13b8f5b42bb"/>
  </p:sldMasterIdLst>
  <p:notesMasterIdLst>
    <p:notesMasterId xmlns:r="http://schemas.openxmlformats.org/officeDocument/2006/relationships" r:id="R6d0ca583b6e84e0e"/>
  </p:notesMasterIdLst>
  <p:sldIdLst>
    <p:sldId xmlns:r="http://schemas.openxmlformats.org/officeDocument/2006/relationships" id="256" r:id="Rac34dd51090b4d04"/>
    <p:sldId xmlns:r="http://schemas.openxmlformats.org/officeDocument/2006/relationships" id="257" r:id="R1580fa6bd0da4acb"/>
    <p:sldId xmlns:r="http://schemas.openxmlformats.org/officeDocument/2006/relationships" id="258" r:id="Rb2451f21d50e4510"/>
    <p:sldId xmlns:r="http://schemas.openxmlformats.org/officeDocument/2006/relationships" id="259" r:id="R395c820c92bc475f"/>
    <p:sldId xmlns:r="http://schemas.openxmlformats.org/officeDocument/2006/relationships" id="260" r:id="R58232a7446974302"/>
    <p:sldId xmlns:r="http://schemas.openxmlformats.org/officeDocument/2006/relationships" id="261" r:id="Rb0c493bb22bf406f"/>
    <p:sldId xmlns:r="http://schemas.openxmlformats.org/officeDocument/2006/relationships" id="262" r:id="Re093c7518cb247fc"/>
    <p:sldId xmlns:r="http://schemas.openxmlformats.org/officeDocument/2006/relationships" id="263" r:id="Rdca446acb2d04d64"/>
    <p:sldId xmlns:r="http://schemas.openxmlformats.org/officeDocument/2006/relationships" id="264" r:id="R90bc5b34fed741d1"/>
    <p:sldId xmlns:r="http://schemas.openxmlformats.org/officeDocument/2006/relationships" id="265" r:id="R443c91b48d394d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a337835c44d4c" /><Relationship Type="http://schemas.openxmlformats.org/officeDocument/2006/relationships/slideMaster" Target="/ppt/slideMasters/slideMaster1.xml" Id="R3955f13b8f5b42bb" /><Relationship Type="http://schemas.openxmlformats.org/officeDocument/2006/relationships/notesMaster" Target="/ppt/notesMasters/notesMaster1.xml" Id="R6d0ca583b6e84e0e" /><Relationship Type="http://schemas.openxmlformats.org/officeDocument/2006/relationships/presProps" Target="/ppt/presProps.xml" Id="R8a7f7c9c1bd0426d" /><Relationship Type="http://schemas.openxmlformats.org/officeDocument/2006/relationships/tableStyles" Target="/ppt/tableStyles.xml" Id="R677ae103d54a4dbf" /><Relationship Type="http://schemas.openxmlformats.org/officeDocument/2006/relationships/slide" Target="/ppt/slides/slide1.xml" Id="Rac34dd51090b4d04" /><Relationship Type="http://schemas.openxmlformats.org/officeDocument/2006/relationships/slide" Target="/ppt/slides/slide2.xml" Id="R1580fa6bd0da4acb" /><Relationship Type="http://schemas.openxmlformats.org/officeDocument/2006/relationships/slide" Target="/ppt/slides/slide3.xml" Id="Rb2451f21d50e4510" /><Relationship Type="http://schemas.openxmlformats.org/officeDocument/2006/relationships/slide" Target="/ppt/slides/slide4.xml" Id="R395c820c92bc475f" /><Relationship Type="http://schemas.openxmlformats.org/officeDocument/2006/relationships/slide" Target="/ppt/slides/slide5.xml" Id="R58232a7446974302" /><Relationship Type="http://schemas.openxmlformats.org/officeDocument/2006/relationships/slide" Target="/ppt/slides/slide6.xml" Id="Rb0c493bb22bf406f" /><Relationship Type="http://schemas.openxmlformats.org/officeDocument/2006/relationships/slide" Target="/ppt/slides/slide7.xml" Id="Re093c7518cb247fc" /><Relationship Type="http://schemas.openxmlformats.org/officeDocument/2006/relationships/slide" Target="/ppt/slides/slide8.xml" Id="Rdca446acb2d04d64" /><Relationship Type="http://schemas.openxmlformats.org/officeDocument/2006/relationships/slide" Target="/ppt/slides/slide9.xml" Id="R90bc5b34fed741d1" /><Relationship Type="http://schemas.openxmlformats.org/officeDocument/2006/relationships/slide" Target="/ppt/slides/slide10.xml" Id="R443c91b48d39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fe58c022d6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285aa213345d6" /><Relationship Type="http://schemas.openxmlformats.org/officeDocument/2006/relationships/notesMaster" Target="/ppt/notesMasters/notesMaster1.xml" Id="R6895d46b9bef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815995c5254628" /><Relationship Type="http://schemas.openxmlformats.org/officeDocument/2006/relationships/notesMaster" Target="/ppt/notesMasters/notesMaster1.xml" Id="Rbcfe1ea94985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67af0b3894893" /><Relationship Type="http://schemas.openxmlformats.org/officeDocument/2006/relationships/notesMaster" Target="/ppt/notesMasters/notesMaster1.xml" Id="Rda9154aced8c44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1553b60e34eba" /><Relationship Type="http://schemas.openxmlformats.org/officeDocument/2006/relationships/notesMaster" Target="/ppt/notesMasters/notesMaster1.xml" Id="Ra217d9e4783d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45b4f52fdf439a" /><Relationship Type="http://schemas.openxmlformats.org/officeDocument/2006/relationships/notesMaster" Target="/ppt/notesMasters/notesMaster1.xml" Id="R13b14836060444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58066904d347d9" /><Relationship Type="http://schemas.openxmlformats.org/officeDocument/2006/relationships/notesMaster" Target="/ppt/notesMasters/notesMaster1.xml" Id="Rcd5f4e0c3d61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169a5a57dc4fec" /><Relationship Type="http://schemas.openxmlformats.org/officeDocument/2006/relationships/notesMaster" Target="/ppt/notesMasters/notesMaster1.xml" Id="Rfd86dfe5f39b45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56d324db004be0" /><Relationship Type="http://schemas.openxmlformats.org/officeDocument/2006/relationships/notesMaster" Target="/ppt/notesMasters/notesMaster1.xml" Id="Rdc4fd4de29834a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9e3ffef5e463e" /><Relationship Type="http://schemas.openxmlformats.org/officeDocument/2006/relationships/notesMaster" Target="/ppt/notesMasters/notesMaster1.xml" Id="Raa775a42233f48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5e4c659c314fca" /><Relationship Type="http://schemas.openxmlformats.org/officeDocument/2006/relationships/notesMaster" Target="/ppt/notesMasters/notesMaster1.xml" Id="R0ab06787c17e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b35b475064d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b741839ba421c" /><Relationship Type="http://schemas.openxmlformats.org/officeDocument/2006/relationships/slideLayout" Target="/ppt/slideLayouts/slideLayout1.xml" Id="R54ea48f2a4fe45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a48f2a4fe45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dfe18075b4789" /><Relationship Type="http://schemas.openxmlformats.org/officeDocument/2006/relationships/notesSlide" Target="/ppt/notesSlides/notesSlide1.xml" Id="R5dd61586aeb4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12e1272c54b9f" /><Relationship Type="http://schemas.openxmlformats.org/officeDocument/2006/relationships/notesSlide" Target="/ppt/notesSlides/notesSlide2.xml" Id="R660275cb8b9342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b66e6349e4961" /><Relationship Type="http://schemas.openxmlformats.org/officeDocument/2006/relationships/chart" Target="/ppt/slides/charts/chart1.xml" Id="R487d578da5284097" /><Relationship Type="http://schemas.openxmlformats.org/officeDocument/2006/relationships/notesSlide" Target="/ppt/notesSlides/notesSlide3.xml" Id="Rc417bf8a260f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638e7e824484b" /><Relationship Type="http://schemas.openxmlformats.org/officeDocument/2006/relationships/notesSlide" Target="/ppt/notesSlides/notesSlide4.xml" Id="Rde1c2e1433e44b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115d24d79455b" /><Relationship Type="http://schemas.openxmlformats.org/officeDocument/2006/relationships/chart" Target="/ppt/slides/charts/chart2.xml" Id="R2bdfacbb85b34999" /><Relationship Type="http://schemas.openxmlformats.org/officeDocument/2006/relationships/notesSlide" Target="/ppt/notesSlides/notesSlide5.xml" Id="Ra8ac5ae5519c4b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3bdacb1949b3" /><Relationship Type="http://schemas.openxmlformats.org/officeDocument/2006/relationships/chart" Target="/ppt/slides/charts/chart3.xml" Id="R16e35aed1a574d54" /><Relationship Type="http://schemas.openxmlformats.org/officeDocument/2006/relationships/notesSlide" Target="/ppt/notesSlides/notesSlide6.xml" Id="Rbda20229fb5c4e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fa415f2db49cf" /><Relationship Type="http://schemas.openxmlformats.org/officeDocument/2006/relationships/notesSlide" Target="/ppt/notesSlides/notesSlide7.xml" Id="Re805be552c624a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bd4b91714bc9" /><Relationship Type="http://schemas.openxmlformats.org/officeDocument/2006/relationships/notesSlide" Target="/ppt/notesSlides/notesSlide8.xml" Id="Rddbae803365143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fe83a1bba45de" /><Relationship Type="http://schemas.openxmlformats.org/officeDocument/2006/relationships/chart" Target="/ppt/slides/charts/chart4.xml" Id="R354d626b02204628" /><Relationship Type="http://schemas.openxmlformats.org/officeDocument/2006/relationships/notesSlide" Target="/ppt/notesSlides/notesSlide9.xml" Id="R0f8dec5c96de43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c27787f24790" /><Relationship Type="http://schemas.openxmlformats.org/officeDocument/2006/relationships/notesSlide" Target="/ppt/notesSlides/notesSlide10.xml" Id="R874d941ae177477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Reviews</c:v>
          </c:tx>
          <c:spPr>
            <a:solidFill xmlns:a="http://schemas.openxmlformats.org/drawingml/2006/main">
              <a:srgbClr val="D70F64"/>
            </a:solidFill>
          </c:spPr>
          <c:cat>
            <c:strLit>
              <c:ptCount val="3"/>
              <c:pt idx="0">
                <c:v>Negative</c:v>
              </c:pt>
              <c:pt idx="1">
                <c:v>Neutral</c:v>
              </c:pt>
              <c:pt idx="2">
                <c:v>Positive</c:v>
              </c:pt>
            </c:strLit>
          </c:cat>
          <c:val>
            <c:numLit>
              <c:formatCode>General</c:formatCode>
              <c:ptCount val="3"/>
              <c:pt idx="0">
                <c:v>2423</c:v>
              </c:pt>
              <c:pt idx="1">
                <c:v>1255</c:v>
              </c:pt>
              <c:pt idx="2">
                <c:v>6251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2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Reviews</c:v>
          </c:tx>
          <c:spPr>
            <a:solidFill xmlns:a="http://schemas.openxmlformats.org/drawingml/2006/main">
              <a:srgbClr val="D70F64"/>
            </a:solidFill>
          </c:spPr>
          <c:cat>
            <c:numLit>
              <c:formatCode>General</c:formatCode>
              <c:ptCount val="9"/>
              <c:pt idx="0">
                <c:v>1</c:v>
              </c:pt>
              <c:pt idx="1">
                <c:v>1.5</c:v>
              </c:pt>
              <c:pt idx="2">
                <c:v>2</c:v>
              </c:pt>
              <c:pt idx="3">
                <c:v>2.5</c:v>
              </c:pt>
              <c:pt idx="4">
                <c:v>3</c:v>
              </c:pt>
              <c:pt idx="5">
                <c:v>3.5</c:v>
              </c:pt>
              <c:pt idx="6">
                <c:v>4</c:v>
              </c:pt>
              <c:pt idx="7">
                <c:v>4.5</c:v>
              </c:pt>
              <c:pt idx="8">
                <c:v>5</c:v>
              </c:pt>
            </c:numLit>
          </c:cat>
          <c:val>
            <c:numLit>
              <c:formatCode>General</c:formatCode>
              <c:ptCount val="9"/>
              <c:pt idx="0">
                <c:v>1735</c:v>
              </c:pt>
              <c:pt idx="1">
                <c:v>9</c:v>
              </c:pt>
              <c:pt idx="2">
                <c:v>684</c:v>
              </c:pt>
              <c:pt idx="3">
                <c:v>19</c:v>
              </c:pt>
              <c:pt idx="4">
                <c:v>1192</c:v>
              </c:pt>
              <c:pt idx="5">
                <c:v>47</c:v>
              </c:pt>
              <c:pt idx="6">
                <c:v>2373</c:v>
              </c:pt>
              <c:pt idx="7">
                <c:v>69</c:v>
              </c:pt>
              <c:pt idx="8">
                <c:v>3826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2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Avg rating</c:v>
          </c:tx>
          <c:spPr>
            <a:solidFill xmlns:a="http://schemas.openxmlformats.org/drawingml/2006/main">
              <a:srgbClr val="0F8B6F"/>
            </a:solidFill>
          </c:spPr>
          <c:cat>
            <c:strLit>
              <c:ptCount val="2"/>
              <c:pt idx="0">
                <c:v>No pictures</c:v>
              </c:pt>
              <c:pt idx="1">
                <c:v>With pictures</c:v>
              </c:pt>
            </c:strLit>
          </c:cat>
          <c:val>
            <c:numLit>
              <c:formatCode>General</c:formatCode>
              <c:ptCount val="2"/>
              <c:pt idx="0">
                <c:v>3.53</c:v>
              </c:pt>
              <c:pt idx="1">
                <c:v>3.86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2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Naive Bayes</c:v>
              </c:pt>
              <c:pt idx="1">
                <c:v>Logistic Regression</c:v>
              </c:pt>
              <c:pt idx="2">
                <c:v>Linear SVM</c:v>
              </c:pt>
            </c:strLit>
          </c:cat>
          <c:val>
            <c:numLit>
              <c:formatCode>General</c:formatCode>
              <c:ptCount val="3"/>
              <c:pt idx="0">
                <c:v>80.66</c:v>
              </c:pt>
              <c:pt idx="1">
                <c:v>77.03999999999999</c:v>
              </c:pt>
              <c:pt idx="2">
                <c:v>79.66</c:v>
              </c:pt>
            </c:numLit>
          </c:val>
        </c:ser>
        <c:ser>
          <c:idx val="1"/>
          <c:order val="1"/>
          <c:tx>
            <c:v>Macro F1</c:v>
          </c:tx>
          <c:spPr>
            <a:solidFill xmlns:a="http://schemas.openxmlformats.org/drawingml/2006/main">
              <a:srgbClr val="D70F64"/>
            </a:solidFill>
          </c:spPr>
          <c:cat>
            <c:strLit>
              <c:ptCount val="3"/>
              <c:pt idx="0">
                <c:v>Naive Bayes</c:v>
              </c:pt>
              <c:pt idx="1">
                <c:v>Logistic Regression</c:v>
              </c:pt>
              <c:pt idx="2">
                <c:v>Linear SVM</c:v>
              </c:pt>
            </c:strLit>
          </c:cat>
          <c:val>
            <c:numLit>
              <c:formatCode>General</c:formatCode>
              <c:ptCount val="3"/>
              <c:pt idx="0">
                <c:v>62.7</c:v>
              </c:pt>
              <c:pt idx="1">
                <c:v>68.67999999999999</c:v>
              </c:pt>
              <c:pt idx="2">
                <c:v>67.25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2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94EC8-F19E-4CED-B9C6-D7DF8BF3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zomato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3EC82-E662-478C-956F-0F67AFF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</a:defRPr>
            </a:pPr>
            <a:r>
              <a:rPr sz="4050" b="1">
                <a:solidFill>
                  <a:srgbClr val="171717"/>
                </a:solidFill>
              </a:rPr>
              <a:t>Zomato Restaurant Review</a:t>
            </a:r>
          </a:p>
          <a:p xmlns:a="http://schemas.openxmlformats.org/drawingml/2006/main">
            <a:pPr algn="l">
              <a:defRPr sz="4050" b="1">
                <a:solidFill>
                  <a:srgbClr val="171717"/>
                </a:solidFill>
              </a:defRPr>
            </a:pPr>
            <a:r>
              <a:rPr sz="4050" b="1">
                <a:solidFill>
                  <a:srgbClr val="171717"/>
                </a:solidFill>
              </a:rPr>
              <a:t>Sentiment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54632-8652-4589-BA7F-0EAE05D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5B5B"/>
                </a:solidFill>
              </a:defRPr>
            </a:pPr>
            <a:r>
              <a:rPr sz="1800" b="0">
                <a:solidFill>
                  <a:srgbClr val="5B5B5B"/>
                </a:solidFill>
              </a:rPr>
              <a:t>Data Science with AI Internship Project | LABMENTIX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511BC-405F-48F3-BE9D-83C23BBA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35A3-BFDE-4DC3-8D53-4E87DF0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F64"/>
                </a:solidFill>
              </a:defRPr>
            </a:pPr>
            <a:r>
              <a:rPr sz="2550" b="1">
                <a:solidFill>
                  <a:srgbClr val="D70F64"/>
                </a:solidFill>
              </a:rPr>
              <a:t>9,929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E1ACF-F825-4A95-9759-F07CF90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usable review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76247-C393-4CF3-936D-2046FDCE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7D3-1B6B-498F-9231-E53256F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6F"/>
                </a:solidFill>
              </a:defRPr>
            </a:pPr>
            <a:r>
              <a:rPr sz="2550" b="1">
                <a:solidFill>
                  <a:srgbClr val="0F8B6F"/>
                </a:solidFill>
              </a:rPr>
              <a:t>68.7%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A22EB-9267-4590-BD36-B2247BBF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final model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FC535-511D-4873-819D-5A3FA5B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6810D-57D4-4F1D-9616-5F267114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AD7E0-D398-4BDC-93AD-F003DC4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sentiment classes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1CDB2-9466-4B92-BDDE-4B5B6D17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2647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8132C-FB49-43E8-BE56-4257B07C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180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AI model classifies reviews as Negative, Neutral, or Positive.</a:t>
            </a:r>
          </a:p>
        </p:txBody>
      </p:sp>
    </p:spTree>
    <p:extLst>
      <p:ext uri="{BB962C8B-B14F-4D97-AF65-F5344CB8AC3E}">
        <p14:creationId xmlns:p14="http://schemas.microsoft.com/office/powerpoint/2010/main" val="1780761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8FD18-E771-4C21-9536-1207786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6956B-D79D-4878-AD7E-061125CD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31A52-03D9-4DA3-8CC6-1CE3430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project turns raw reviews into customer sentiment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8B6DA-ACE3-4E53-823D-72535FC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Analyse Zomato restaurant reviews, ratings, cost, cuisine, and metadata.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A7513-3D12-43C5-8150-2326311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Find business insights through EDA and statistical hypothesis testing.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07938-3F16-4B9C-95A4-B04FEBE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Build an AI/ML model that predicts sentiment from customer review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632D7-5599-4B9F-A778-F018BF2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Use the model to help restaurants identify satisfaction and improvement areas.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0E029-9DF0-48D9-9A08-68D22B8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B19D-2013-45EC-8904-3378381F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F64"/>
                </a:solidFill>
              </a:defRPr>
            </a:pPr>
            <a:r>
              <a:rPr sz="2550" b="1">
                <a:solidFill>
                  <a:srgbClr val="D70F64"/>
                </a:solidFill>
              </a:rPr>
              <a:t>10,000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C48A4-80AD-4CAB-BE78-04DB018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F24BD-C4CC-4F41-B146-E60BE4B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6E409-464E-49C8-B233-DBBE8CD0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7660B-1D7B-4453-A614-CA8FEDAE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metadata restaurants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201D5-9DE5-45C1-A05E-EF559D6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E301F-D423-479D-98D6-87853684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6F"/>
                </a:solidFill>
              </a:defRPr>
            </a:pPr>
            <a:r>
              <a:rPr sz="2550" b="1">
                <a:solidFill>
                  <a:srgbClr val="0F8B6F"/>
                </a:solidFill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EBAEE-537B-4731-9249-626E7EA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reviewed restaurants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BE11A-FE57-4E98-9042-87232832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C39A5-AEB0-4184-B1D5-45AE57D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6000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17A7BF-2CA3-4BBE-814E-B7B5CD4E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45503-A2B8-4DE7-BD04-E8233491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DATA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71BBB-540C-4FD8-A7CF-518F4C85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Two CSV files provide the review text and restaurant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A3DB3-CC9F-459F-B44A-DCA652B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A26A5-D0D0-44F8-9AE5-1CAC89E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CC61D-CE4F-4687-AA0C-B4597DC9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09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B44DF-2243-4803-BFA6-233F7DF4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Important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AE25A-861A-49C5-B89E-07D0867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Use in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E573D-A31C-45CA-9511-FE0690D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DC6D3-5ECA-419B-942A-78C2536C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5988C-FB81-409F-B404-4B84E7A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D35F1-7382-42F8-AEB8-996EE949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Review, Rating, Time, Pictures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5FD21-5F87-4281-AD18-47276B7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193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Sentiment labels and text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BB1EA-6AC4-4A16-A8D8-3289E7D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7EDAD-2BF6-4AD5-A76B-4C34B70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262DD-D92B-4FB4-B5B4-6B26FDE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19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E0C3B-54AE-40B2-A8B4-E0C0E41F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19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Cost, Cuisines, Collections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371C4-E7F4-498D-B6A1-1440318A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19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Restaurant context and EDA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168DB-013C-4EA8-9AF3-AB6EE575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26080-9C47-4A46-9401-F8862AA4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Cleaned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7D217-2747-4F9C-BC25-FD0C072E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19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9,954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1B69A-A3E0-4BFA-8384-89F3490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19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Rating_num, Sentiment, Review_Length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83764-0E05-4AFA-A822-92583F02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19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Analysis-ready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F89C7-AEC9-4930-BCD2-D3040E2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9B806-6A52-493C-B07E-31BCD93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Preprocessed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35605-A9F7-445F-A990-BC3A4180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194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9,929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B18BD-277D-4A2D-8577-2F296BB3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194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Normalized_Review, Encodings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28270-05A6-45DE-BA09-B665D22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194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ML-ready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6EB0C8-2D15-4CC5-B87B-56154700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179F0-051A-4BAB-A01C-D35B30DA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Final target labels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742950" y="4905375"/>
          <a:ext xmlns:a="http://schemas.openxmlformats.org/drawingml/2006/main" cx="7239000" cy="104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7d578da5284097"/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CEF22-C6C8-41CC-A5B0-46A8AA43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958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Positive reviews dominate, so macro F1 is more reliable than accuracy alone.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763AE-25A2-4DCA-B5D0-0FD29F8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4E674-28AA-4CAC-8757-EE73F72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8793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C59C91-50F5-4ED3-A195-321B3CD1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F44A1-F205-4DF6-BB61-7BDCFF8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DATA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61DAF-DCB0-4B93-B2D1-CD4724E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Cleaning made the dataset usable for EDA and modelling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EF8B2-18B0-435B-BB9C-A5A014CD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D5C1-0D63-4872-96B0-0DCC78F2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Load CSVs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62A57-5044-4573-838A-2CAA111B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E0C5C-42AF-413A-94E8-2304A7AF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EE3C5-A0F2-4165-BA24-27548886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Clean ratings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89ABB-E62C-499E-A6E6-744261C6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16026-9799-4D1A-89B2-A8F3ED3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0359F-9797-47AA-9263-FEAD2FC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Handle 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6D420-DBBF-46F9-83CD-69EC1574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000B9-3E12-4439-8791-A060A51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AB67A-629E-4D79-84F5-1F907BDA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Merge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CC90E-8759-4FB2-B58A-09B7DDDF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3DE59-0170-4C02-B2B0-9143B011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62685-9976-446D-9A70-B0538F35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Create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1318-4203-410B-AB06-19F2384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80E17-057E-47E7-B2D2-86129DB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8E567-10AB-4D14-965F-A96FB55C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Export ML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C825C-8871-4A05-8767-849D1740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05306-FE20-4BC4-87A9-75885CE3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95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0F64"/>
                </a:solidFill>
              </a:defRPr>
            </a:pPr>
            <a:r>
              <a:rPr sz="2550" b="1">
                <a:solidFill>
                  <a:srgbClr val="D70F64"/>
                </a:solidFill>
              </a:rPr>
              <a:t>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A63E6-DE0F-4696-9647-BDD5BBBB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duplicates removed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B502A-1E2E-480D-B770-4D7FC5B0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86125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B6D5D-B6E3-4382-9D0C-A3EB6CD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95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6F"/>
                </a:solidFill>
              </a:defRPr>
            </a:pPr>
            <a:r>
              <a:rPr sz="2550" b="1">
                <a:solidFill>
                  <a:srgbClr val="0F8B6F"/>
                </a:solidFill>
              </a:rPr>
              <a:t>9,954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5F06D-C53B-420B-96FA-10F625A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290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cleaned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F0FA2-9C0B-4C55-AFC8-2F96DB3C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86125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782E0-61FE-49D8-8377-A1135EB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9,929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F0792E-DCB5-45DC-A920-94F9972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290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preprocessed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2B261C-1A59-4E6C-8616-E5D49236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Key engineered fields: Sentiment, Review_Length, Has_Pictures, Cost_Category, Primary_Cuisine, Normalized_Review.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C06E6-43DF-4C69-BC94-B132157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2E308D-6FE9-45E1-B311-A3CB613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3850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FC7DD-FE1D-4EA4-8D6B-442FFFE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85286-C89B-4B76-A5D1-E78DCC4F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EXPLORATORY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7B791-CB9E-4E05-A7DD-F361F72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EDA shows ratings are mostly positive but not evenly distributed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6286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dfacbb85b3499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D7C78-F80F-49D4-A0E4-3A462EF2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BAFB9-E41F-4B09-8742-FF6B7D78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6F"/>
                </a:solidFill>
              </a:defRPr>
            </a:pPr>
            <a:r>
              <a:rPr sz="2550" b="1">
                <a:solidFill>
                  <a:srgbClr val="0F8B6F"/>
                </a:solidFill>
              </a:rPr>
              <a:t>3.60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423E-1B15-45BB-BF17-4AD61B0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average 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559A3-4E81-417A-A295-7C7996F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56FCF-87BB-4E23-B8CD-F6815CB9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4.0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F032A-AA29-46BE-8FD4-2255A82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median rating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7B079-A75D-4B78-AC4F-AB74DBB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5-star and 4-star reviews are the largest groups, but low ratings still provide important complaint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12A9F-8E0D-44BC-A76E-A60E6441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CAD2D-AEC1-4A49-98AF-818084B1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8598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596AB-F796-44AE-A37B-5C40CF49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92C55-4938-4DEA-B94F-D2D5CAFD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BUSINESS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79B2B-8F5E-4EE4-82C6-3441293D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Restaurant context reveals where satisfaction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3A750-0099-4593-A31A-61E7B90A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D8971-7ECE-4143-A301-F7F981B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Insight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9BCD0-BC03-4FD1-8BD2-5805AD4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47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39406-588F-4F8D-A4E5-FB237EA1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Business 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04FEA-538F-4B49-8FEB-A9FFC8C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6925E-ACA4-428A-BD04-5F755CB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Best 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918BD-C0AA-4259-AEF2-D023FB6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AB's - Absolute Barbecues: 4.88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33BD9-3A35-412E-B342-153E7A31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Benchmark strong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5E360-F41A-42A0-88B8-13E29617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8071C-0FC8-4C48-853C-F5943E7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Lowest 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B5AE9-9ED1-4B74-A030-678B61A4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Hotel Zara Hi-Fi: 2.40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702C-3E1D-418D-AB66-508D2E03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Investigate repeated complaints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7ACEF-980C-44B1-88AE-608EDC8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48288-456E-423D-B480-BED2A81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3692A-41E4-465A-B3BC-DFBC6FF0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Median cost: 700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41B7F-6D0C-4399-B68C-CC79EC5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Most restaurants are budget to mid-range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35A3B-1100-4D3F-9B21-45486ABD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56F59-983D-46C1-9DCF-A619EE86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Pictures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05746-ED1C-4F5A-A150-FDDD5B61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With pictures: 3.86 avg rating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2CF41-44A7-4948-8D01-6E9028EA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Engaged customers rate slightly higher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857250" y="4267200"/>
          <a:ext xmlns:a="http://schemas.openxmlformats.org/drawingml/2006/main" cx="495300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e35aed1a574d54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F95AA-3E48-45FB-9E0E-AA59A2D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Photo reviews may indicate a more involved dining experience; restaurants can encourage shareable presentation.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17297-A886-4EAD-BE44-6E056A9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A522E-6DD8-498C-ADAC-B5EC5D6C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497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E72CA-4680-4C74-BA92-34CB299E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A28AF-92B2-44D9-BE48-2B4AC4C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STATISTICAL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ED56D-5B45-4D81-84D1-037CE2A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Hypothesis tests confirmed three meaningful 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705AB-ED7F-4EC5-9283-1F9B604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32279-F060-44F3-859E-D2A0B3B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Hypothesis 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5D6B7-0A72-4A3D-B7CA-7EF9758B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389AC-55EB-4EF0-BBB3-54A9FAF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E8F3C-8117-45C2-936E-5A1B3FEF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E990F-DC60-4094-A2DC-8382F960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Picture reviews vs no-picture 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9FABF-4D69-4051-83F6-DB5CC0B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3.29e-28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0906E-C78E-490A-86E0-5450DC0F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8122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Ratings differ significantly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58C27-1E6F-4AF7-9127-E4127A0A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1E979-A459-4827-B501-FDF41FA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High-cost vs low-cost restaurants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1C402-AA95-4F41-8AE0-7191806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81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0.00013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B7B63-71C5-4342-A964-2E2D7E19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81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Ratings differ significantly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A8825-1F31-456E-AE44-4158E3E3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0D570-DAAD-411D-8E79-51FA655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Cuisine type vs 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4EE7B-979A-4A19-BCBE-47E65E6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81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1.31e-09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D5CC8-4FCB-4034-B3F9-810B0DC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8132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Sentiment is associated with cuisine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6B21E-8320-4430-8BCE-AC2D193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All three p-values are below 0.05, so the analysis rejects the null hypotheses.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761B7-15DC-4960-958D-C9E1226B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This supports using metadata and customer behavior signals alongside review 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F4C63-D0A5-44CE-824E-A9A8926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2F3BE-02CD-41CA-9352-E6C10FE8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1321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F0274-5147-446F-B0D8-97C12F6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F7B45-7429-4B27-9F6B-5334873C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AI FEATURE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4446A-A8DE-4D39-B96A-197525B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Text preprocessing converted reviews into model-ready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4FC4B-C135-4FDF-9ADF-E22300AF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74869-3344-49E8-8BC0-A5E16556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Expand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58D40-2B31-4C0D-8A41-6ABD527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475C3-0F59-4C89-B662-B193BDB3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AFA7F-DE31-423C-86ED-30C2219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Lowercase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1C265-CB4D-4F8B-8316-BC0CEB71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AF849-2C9D-44CE-A62B-42096C7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95B57-0C20-4D97-B1B2-7BC9075A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Clean symbols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DA55F-35EB-457D-A56D-6624144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7BCEC-F485-4BD6-A91D-032EB3A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61D3A-3A51-4654-B04E-C414676C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Remove stopwords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B043A-04A0-45C9-8ABA-A7BBED4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97560-0A34-488B-A14F-65306EB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CA1D-B45C-4CFA-83BF-B063FDA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71AB2-506B-4FAB-A4D6-1173609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85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0F64"/>
                </a:solidFill>
              </a:defRPr>
            </a:pPr>
            <a:r>
              <a:rPr sz="2100" b="1">
                <a:solidFill>
                  <a:srgbClr val="D70F6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DD756-CA95-401B-A7B8-47BFD917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192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43DB6-22F1-48C6-8789-F178C1BB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288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TF-IDF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39CC9-8F35-4917-B779-90A6822E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B8C14-4C8F-41BA-A4A6-20E876EC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6930B-C437-4E96-B81D-5D1CBBC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Original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B093D-8664-4DAD-8D5C-DB241696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The food was excellent and the service was very quick.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4E795-30D4-4FA1-920F-221FEF0E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Normalized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62CEB-CCDA-4B40-A820-DAD09394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B6F"/>
                </a:solidFill>
              </a:defRPr>
            </a:pPr>
            <a:r>
              <a:rPr sz="1500" b="1">
                <a:solidFill>
                  <a:srgbClr val="0F8B6F"/>
                </a:solidFill>
              </a:rPr>
              <a:t>food excellent service quick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06A11-D7E5-46AB-9ACB-E52B6519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TF-IDF turns cleaned words and short phrases into numeric features that ML models can learn from.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BDAA1-9F0E-448C-B512-7DD24EE4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AC2F2-4E66-4962-BC05-82A55A51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4745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3F9E9-95D3-47D6-B611-9D27C13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E3955-6B8C-4023-B414-0CDECC2F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8A00C-A861-45A5-86F0-BC2D3A2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Logistic Regression gave the strongest balanced sentiment performance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81050" y="1476375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4d626b022046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A032F-79B1-45F5-8260-490C95DF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98FA8-0FE7-494B-8F62-95E38B68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70F64"/>
                </a:solidFill>
              </a:defRPr>
            </a:pPr>
            <a:r>
              <a:rPr sz="2325" b="1">
                <a:solidFill>
                  <a:srgbClr val="D70F64"/>
                </a:solidFill>
              </a:rPr>
              <a:t>Logistic</a:t>
            </a:r>
          </a:p>
          <a:p xmlns:a="http://schemas.openxmlformats.org/drawingml/2006/main">
            <a:pPr algn="l">
              <a:defRPr sz="2325" b="1">
                <a:solidFill>
                  <a:srgbClr val="D70F64"/>
                </a:solidFill>
              </a:defRPr>
            </a:pPr>
            <a:r>
              <a:rPr sz="2325" b="1">
                <a:solidFill>
                  <a:srgbClr val="D70F64"/>
                </a:solidFill>
              </a:rPr>
              <a:t>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C43CB-9DE4-4C0F-B98D-A5AD680B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</a:defRPr>
            </a:pPr>
            <a:r>
              <a:rPr sz="1200" b="0">
                <a:solidFill>
                  <a:srgbClr val="5B5B5B"/>
                </a:solidFill>
              </a:rPr>
              <a:t>selected final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5B9B5-55CA-42E9-AFC6-7C3777A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1E0F8-2356-4ED0-9232-27E4783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6F"/>
                </a:solidFill>
              </a:defRPr>
            </a:pPr>
            <a:r>
              <a:rPr sz="2550" b="1">
                <a:solidFill>
                  <a:srgbClr val="0F8B6F"/>
                </a:solidFill>
              </a:rPr>
              <a:t>68.7%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84D1E-F516-4254-AECE-177CB416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290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AD1B9-8CB2-4225-802D-5ECE88F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Macro F1 was prioritized because the dataset is imbalanced and Neutral reviews are harder to detect.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CE46F-FCE6-4BEA-BEA0-E86EE244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1F829-5128-4DDA-84DB-8A06CE9C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6024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642D7-248A-4263-B6A0-330145B0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792A1-E726-4E2B-9E0C-8B9B650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0F64"/>
                </a:solidFill>
              </a:defRPr>
            </a:pPr>
            <a:r>
              <a:rPr sz="1125" b="1">
                <a:solidFill>
                  <a:srgbClr val="D70F64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0A1F3-A033-4533-BA4A-6A4379E9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final model is explainable and useful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3B58B-5022-452D-90D6-835F0B05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A36BF-AA69-4F69-8E55-1164A38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51139-AE6A-4AE0-BCA6-9A52F83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5257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High-impact words learned by the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C14EC-18D8-4497-88AC-0E0F170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61B02-EC75-43A0-A5E3-B8C5C53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Negative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1F15-E19A-4D66-B69C-00E95FED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worst, pathetic, bad, order, even, waste, poor, never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0DBEC-212B-4FF9-B598-6803D2D7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6A7FD-7B11-46EB-AC63-10C44E29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Neutral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0FA82-B3F5-43E3-9038-3408EF9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average, okay, ambience, ok, small, compar, fine, decent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8DBC2-B40C-4BAB-BF9C-CB4989F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97085-165A-4AC3-BA2C-69D7D17D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Positive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F4237-070C-4EC6-9387-0A4E144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awesome, best, amaz, love, excellent, lov, deliciou, must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476AE-D8DC-41D8-AE88-76C0A631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04300-4239-4175-BBB9-B73920C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Recommended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351DA-C3EE-421C-B99C-F7483A3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Classify incoming reviews quickly as Negative, Neutral, or Positive.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512EA-71D1-4BA4-B510-A7BC435E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Prioritize negative feedback for service, food quality, and delivery improvements.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D0733-E1A0-4716-BFD4-4CFD93B5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Track cuisine, cost, and photo-review trends as business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8F0C3-E4EF-4B0E-89B5-32517300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• Improve future work with larger data, richer NLP, and deployment-ready monitoring.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45A27-4943-40AB-B4B6-375CCCFD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Zomato Restaurant Review Sentiment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14C89-7570-4035-A772-6E827890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77777"/>
                </a:solidFill>
              </a:defRPr>
            </a:pPr>
            <a:r>
              <a:rPr sz="975" b="0">
                <a:solidFill>
                  <a:srgbClr val="77777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8485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2026-07-17T06:34:09.9860000Z</dcterms:created>
  <dcterms:modified xsi:type="dcterms:W3CDTF">2026-07-17T06:34:09.9860000Z</dcterms:modified>
</coreProperties>
</file>